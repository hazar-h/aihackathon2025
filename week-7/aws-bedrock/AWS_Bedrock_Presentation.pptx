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Score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Latency</c:v>
                  </c:pt>
                  <c:pt idx="2">
                    <c:v>Cost</c:v>
                  </c:pt>
                  <c:pt idx="3">
                    <c:v>Quality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85</c:v>
                </c:pt>
                <c:pt idx="2">
                  <c:v>78</c:v>
                </c:pt>
                <c:pt idx="3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Score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32F3E"/>
              </a:solidFill>
              <a:effectLst/>
            </c:spPr>
          </c:dPt>
          <c:dPt>
            <c:idx val="1"/>
            <c:bubble3D val="0"/>
            <c:spPr>
              <a:solidFill>
                <a:srgbClr val="FF9900"/>
              </a:solidFill>
              <a:effectLst/>
            </c:spPr>
          </c:dPt>
          <c:dPt>
            <c:idx val="2"/>
            <c:bubble3D val="0"/>
            <c:spPr>
              <a:solidFill>
                <a:srgbClr val="146EB4"/>
              </a:solidFill>
              <a:effectLst/>
            </c:spPr>
          </c:dPt>
          <c:dPt>
            <c:idx val="3"/>
            <c:bubble3D val="0"/>
            <c:spPr>
              <a:solidFill>
                <a:srgbClr val="5A6C7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Model Inference</c:v>
                </c:pt>
                <c:pt idx="1">
                  <c:v>Data Storage</c:v>
                </c:pt>
                <c:pt idx="2">
                  <c:v>API Calls</c:v>
                </c:pt>
                <c:pt idx="3">
                  <c:v>Custom Training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50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0785" y="1676400"/>
            <a:ext cx="57224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96916" y="2514600"/>
            <a:ext cx="83501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25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Generative AI Applications with Foundation Models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96916" y="3162300"/>
            <a:ext cx="8350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Overview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85344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4011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Amazon Bedrock?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646039"/>
            <a:ext cx="8534400" cy="1066800"/>
          </a:xfrm>
          <a:prstGeom prst="roundRect">
            <a:avLst>
              <a:gd name="adj" fmla="val 714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3375" y="1646039"/>
            <a:ext cx="0" cy="1066800"/>
          </a:xfrm>
          <a:prstGeom prst="line">
            <a:avLst/>
          </a:prstGeom>
          <a:noFill/>
          <a:ln w="5715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1912739"/>
            <a:ext cx="81804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managed service that provides access to high-performing foundation models from leading AI companies through a unified API.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3017639"/>
            <a:ext cx="2641550" cy="1279922"/>
          </a:xfrm>
          <a:prstGeom prst="roundRect">
            <a:avLst>
              <a:gd name="adj" fmla="val 5953"/>
            </a:avLst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561" y="3200400"/>
            <a:ext cx="23215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7561" y="3543300"/>
            <a:ext cx="23215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infrastructure management required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51150" y="3017639"/>
            <a:ext cx="2641550" cy="1279922"/>
          </a:xfrm>
          <a:prstGeom prst="roundRect">
            <a:avLst>
              <a:gd name="adj" fmla="val 5953"/>
            </a:avLst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33911" y="3200400"/>
            <a:ext cx="23215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33911" y="3543300"/>
            <a:ext cx="23215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security and privacy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97501" y="3017639"/>
            <a:ext cx="2641550" cy="1279922"/>
          </a:xfrm>
          <a:prstGeom prst="roundRect">
            <a:avLst>
              <a:gd name="adj" fmla="val 5953"/>
            </a:avLst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80262" y="3200400"/>
            <a:ext cx="23215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80262" y="3543300"/>
            <a:ext cx="23215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models from top AI providers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85344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2095500"/>
            <a:ext cx="4815929" cy="17526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Inference: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 text and images with various foundation models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Bases: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 to enterprise data using RAG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AI agents that execute complex tasks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 safety and compliance controls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Customization: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Fine-tune models with your data</a:t>
            </a:r>
            <a:endParaRPr lang="en-US" sz="1350" dirty="0"/>
          </a:p>
        </p:txBody>
      </p:sp>
      <p:pic>
        <p:nvPicPr>
          <p:cNvPr id="5" name="Image 0" descr="/tmp/rasterized-gradient-e2110a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5529" y="1847850"/>
            <a:ext cx="3413671" cy="2247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30329" y="2152650"/>
            <a:ext cx="28601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730329" y="2609850"/>
            <a:ext cx="2804071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deployment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ML expertise required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Pay-as-you-go pricing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85344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8188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 Available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1104900"/>
          <a:ext cx="8534400" cy="37338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411480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Provider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Use Cases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Anthropic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Claude Sonnet 4.5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Complex reasoning, coding, agents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Llama 3.2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Multilingual, document analysis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Amazon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Titan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Embeddings, text generation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AI21 Labs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Jurassic-2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Multilingual content creation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Cohere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Command R+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Enterprise RAG, search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Stability AI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Stable Diffusion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Image generation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85344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Inference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154460"/>
            <a:ext cx="4389239" cy="2064990"/>
          </a:xfrm>
          <a:prstGeom prst="roundRect">
            <a:avLst>
              <a:gd name="adj" fmla="val 369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383060"/>
            <a:ext cx="4010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1809750"/>
            <a:ext cx="3932039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prompts via unified API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from text or chat playgrounds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model parameters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generated responses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3371850"/>
            <a:ext cx="4389239" cy="1417290"/>
          </a:xfrm>
          <a:prstGeom prst="roundRect">
            <a:avLst>
              <a:gd name="adj" fmla="val 5376"/>
            </a:avLst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3600450"/>
            <a:ext cx="401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3400" y="3989040"/>
            <a:ext cx="40106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generation, chatbots, text analysis, code generation, translation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98839" y="1912739"/>
            <a:ext cx="3840361" cy="2118122"/>
          </a:xfrm>
          <a:prstGeom prst="roundRect">
            <a:avLst>
              <a:gd name="adj" fmla="val 3598"/>
            </a:avLst>
          </a:prstGeom>
          <a:solidFill>
            <a:srgbClr val="F4F6F6"/>
          </a:solidFill>
          <a:ln w="28575">
            <a:solidFill>
              <a:srgbClr val="FF99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10175" y="2162175"/>
            <a:ext cx="34860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API Call: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85344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Bases (RAG)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19349"/>
            <a:ext cx="8534400" cy="800100"/>
          </a:xfrm>
          <a:prstGeom prst="roundRect">
            <a:avLst>
              <a:gd name="adj" fmla="val 9524"/>
            </a:avLst>
          </a:prstGeom>
          <a:solidFill>
            <a:srgbClr val="146E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486049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foundation models to your enterprise data using Retrieval Augmented Generation.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4800" y="2305199"/>
            <a:ext cx="1905000" cy="1348680"/>
          </a:xfrm>
          <a:prstGeom prst="roundRect">
            <a:avLst>
              <a:gd name="adj" fmla="val 565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4800" y="2324249"/>
            <a:ext cx="19050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890" y="2541389"/>
            <a:ext cx="15389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Upload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890" y="2884289"/>
            <a:ext cx="15389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documents in S3 buckets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14600" y="2171849"/>
            <a:ext cx="1905000" cy="1615380"/>
          </a:xfrm>
          <a:prstGeom prst="roundRect">
            <a:avLst>
              <a:gd name="adj" fmla="val 47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14600" y="2190899"/>
            <a:ext cx="19050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2690" y="2408039"/>
            <a:ext cx="15389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Index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12690" y="2750939"/>
            <a:ext cx="153899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vectorization and chunking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24400" y="2171849"/>
            <a:ext cx="1905000" cy="1615380"/>
          </a:xfrm>
          <a:prstGeom prst="roundRect">
            <a:avLst>
              <a:gd name="adj" fmla="val 47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24400" y="2190899"/>
            <a:ext cx="19050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22490" y="2408039"/>
            <a:ext cx="15389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Query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22490" y="2750939"/>
            <a:ext cx="153899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relevant context for prompts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34200" y="2171849"/>
            <a:ext cx="1905000" cy="1615380"/>
          </a:xfrm>
          <a:prstGeom prst="roundRect">
            <a:avLst>
              <a:gd name="adj" fmla="val 47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934200" y="2190899"/>
            <a:ext cx="19050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290" y="2408039"/>
            <a:ext cx="15389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Generate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290" y="2750939"/>
            <a:ext cx="153899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accurate, context-aware responses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4800" y="4015829"/>
            <a:ext cx="8534400" cy="708422"/>
          </a:xfrm>
          <a:prstGeom prst="roundRect">
            <a:avLst>
              <a:gd name="adj" fmla="val 10756"/>
            </a:avLst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7561" y="4236690"/>
            <a:ext cx="833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Reduces hallucinations, provides source citations, keeps data private and up-to-date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704850"/>
            <a:ext cx="86868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49451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238250"/>
            <a:ext cx="2394793" cy="8763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47650" y="1238250"/>
            <a:ext cx="0" cy="87630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9100" y="1390650"/>
            <a:ext cx="20929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9100" y="1733550"/>
            <a:ext cx="20929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S3, databases, documents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" y="2266950"/>
            <a:ext cx="2394793" cy="10668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7650" y="2266950"/>
            <a:ext cx="0" cy="106680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100" y="2419350"/>
            <a:ext cx="20929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9100" y="2762250"/>
            <a:ext cx="20929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OpenSearch Serverless, Pinecone, etc.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" y="3486150"/>
            <a:ext cx="2394793" cy="10668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47650" y="3486150"/>
            <a:ext cx="0" cy="106680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9100" y="3638550"/>
            <a:ext cx="20929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9100" y="3981450"/>
            <a:ext cx="20929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responses with retrieved context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731520"/>
            <a:ext cx="1828800" cy="548640"/>
          </a:xfrm>
          <a:prstGeom prst="rect">
            <a:avLst/>
          </a:prstGeom>
          <a:solidFill>
            <a:srgbClr val="146EB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Query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1645920"/>
            <a:ext cx="1828800" cy="731520"/>
          </a:xfrm>
          <a:prstGeom prst="rect">
            <a:avLst/>
          </a:prstGeom>
          <a:solidFill>
            <a:srgbClr val="FF9900"/>
          </a:solidFill>
          <a:ln w="25400">
            <a:solidFill>
              <a:srgbClr val="232F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Semantic 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 Vector DB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2743200"/>
            <a:ext cx="1828800" cy="731520"/>
          </a:xfrm>
          <a:prstGeom prst="rect">
            <a:avLst/>
          </a:prstGeom>
          <a:solidFill>
            <a:srgbClr val="232F3E"/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Retrieve Relevant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146EB4"/>
          </a:solidFill>
          <a:ln w="25400">
            <a:solidFill>
              <a:srgbClr val="232F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Foundation 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Generates Response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85344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Agents</a:t>
            </a:r>
            <a:endParaRPr lang="en-US" sz="2700" dirty="0"/>
          </a:p>
        </p:txBody>
      </p:sp>
      <p:pic>
        <p:nvPicPr>
          <p:cNvPr id="4" name="Image 0" descr="/tmp/rasterized-gradient-acc1de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253579"/>
            <a:ext cx="8534400" cy="1066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3400" y="1520279"/>
            <a:ext cx="82387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 agents that reason through tasks, make API calls, and execute complex workflows autonomously.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04800" y="2606129"/>
            <a:ext cx="2641550" cy="1950541"/>
          </a:xfrm>
          <a:prstGeom prst="roundRect">
            <a:avLst>
              <a:gd name="adj" fmla="val 390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02890" y="2804220"/>
            <a:ext cx="22902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84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Capabilities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890" y="3177480"/>
            <a:ext cx="224537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orchestration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reasoning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queries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251150" y="2606129"/>
            <a:ext cx="2641550" cy="1950541"/>
          </a:xfrm>
          <a:prstGeom prst="roundRect">
            <a:avLst>
              <a:gd name="adj" fmla="val 390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449241" y="2804220"/>
            <a:ext cx="22902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84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Groups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449241" y="3177480"/>
            <a:ext cx="224537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custom functions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APIs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integration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operations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97501" y="2472779"/>
            <a:ext cx="2641550" cy="2217241"/>
          </a:xfrm>
          <a:prstGeom prst="roundRect">
            <a:avLst>
              <a:gd name="adj" fmla="val 343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395591" y="2670870"/>
            <a:ext cx="22902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84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395591" y="3044130"/>
            <a:ext cx="2245370" cy="14478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 automation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workflows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systems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operations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85344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645920" cy="731520"/>
          </a:xfrm>
          <a:prstGeom prst="rect">
            <a:avLst/>
          </a:prstGeom>
          <a:solidFill>
            <a:srgbClr val="146E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Input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1645920" cy="731520"/>
          </a:xfrm>
          <a:prstGeom prst="rect">
            <a:avLst/>
          </a:prstGeom>
          <a:solidFill>
            <a:srgbClr val="232F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097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Orchestration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457200"/>
            <a:ext cx="1645920" cy="731520"/>
          </a:xfrm>
          <a:prstGeom prst="rect">
            <a:avLst/>
          </a:prstGeom>
          <a:solidFill>
            <a:srgbClr val="FF9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457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Knowledge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828800"/>
            <a:ext cx="1645920" cy="731520"/>
          </a:xfrm>
          <a:prstGeom prst="rect">
            <a:avLst/>
          </a:prstGeom>
          <a:solidFill>
            <a:srgbClr val="FF9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Groups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1097280"/>
            <a:ext cx="1645920" cy="731520"/>
          </a:xfrm>
          <a:prstGeom prst="rect">
            <a:avLst/>
          </a:prstGeom>
          <a:solidFill>
            <a:srgbClr val="232F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097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Foundation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474720"/>
            <a:ext cx="1645920" cy="731520"/>
          </a:xfrm>
          <a:prstGeom prst="rect">
            <a:avLst/>
          </a:prstGeom>
          <a:solidFill>
            <a:srgbClr val="146E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747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85344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Guardrails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428750"/>
            <a:ext cx="5242620" cy="1066800"/>
          </a:xfrm>
          <a:prstGeom prst="roundRect">
            <a:avLst>
              <a:gd name="adj" fmla="val 714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3375" y="1428750"/>
            <a:ext cx="0" cy="1066800"/>
          </a:xfrm>
          <a:prstGeom prst="line">
            <a:avLst/>
          </a:prstGeom>
          <a:noFill/>
          <a:ln w="5715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1695450"/>
            <a:ext cx="48228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customizable safeguards for responsible AI aligned with your policies.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2647950"/>
            <a:ext cx="53474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Policies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4800" y="3028950"/>
            <a:ext cx="524262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Filters: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Block harmful content (hate, violence, sexual)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 Topics: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Prevent discussion of specific subjects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Detection: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Redact sensitive information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Filters: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Block inappropriate language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Reasoning: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Prevent factual errors and hallucinations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52220" y="1771650"/>
            <a:ext cx="2986980" cy="2400300"/>
          </a:xfrm>
          <a:prstGeom prst="roundRect">
            <a:avLst>
              <a:gd name="adj" fmla="val 3175"/>
            </a:avLst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80820" y="2000250"/>
            <a:ext cx="25803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Stats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80820" y="2457450"/>
            <a:ext cx="25803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080820" y="2876550"/>
            <a:ext cx="25803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 content blocked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80820" y="3295650"/>
            <a:ext cx="25803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080820" y="3714750"/>
            <a:ext cx="25803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in identifying correct responses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85344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Customization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066949"/>
            <a:ext cx="4114800" cy="2103090"/>
          </a:xfrm>
          <a:prstGeom prst="roundRect">
            <a:avLst>
              <a:gd name="adj" fmla="val 3623"/>
            </a:avLst>
          </a:prstGeom>
          <a:solidFill>
            <a:srgbClr val="146E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295549"/>
            <a:ext cx="37307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1722239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model parameters for specific tasks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3400" y="2065139"/>
            <a:ext cx="36576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Task-specific training data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accuracy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adaptation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24400" y="1066949"/>
            <a:ext cx="4114800" cy="2103090"/>
          </a:xfrm>
          <a:prstGeom prst="rect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3000" y="1295549"/>
            <a:ext cx="37307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Continued Pre-training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53000" y="1722239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domain-specific corpora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53000" y="2065139"/>
            <a:ext cx="36576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knowledge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Terminology learning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understanding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4800" y="3398639"/>
            <a:ext cx="8534400" cy="147816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04800" y="3417689"/>
            <a:ext cx="85344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400" y="3665339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84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Customization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3400" y="4076700"/>
            <a:ext cx="25389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accuracy for specialized tasks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27350" y="4076700"/>
            <a:ext cx="25389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domain-specific performance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1301" y="4076700"/>
            <a:ext cx="253893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need for extensive prompting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85344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581150"/>
            <a:ext cx="4389239" cy="10668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3375" y="1581150"/>
            <a:ext cx="0" cy="1066800"/>
          </a:xfrm>
          <a:prstGeom prst="line">
            <a:avLst/>
          </a:prstGeom>
          <a:noFill/>
          <a:ln w="5715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1847850"/>
            <a:ext cx="395238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and evaluate models to find the best fit for your use case.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2800350"/>
            <a:ext cx="44770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Options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4800" y="3181350"/>
            <a:ext cx="4389239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prompt datasets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evaluation metrics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model comparison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benchmarking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998839" y="1051620"/>
          <a:ext cx="3840361" cy="384036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704850"/>
            <a:ext cx="86868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204020"/>
            <a:ext cx="2692450" cy="161538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28600" y="1223070"/>
            <a:ext cx="269245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6690" y="1440210"/>
            <a:ext cx="2342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6690" y="1783110"/>
            <a:ext cx="23421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documentation, medical research, patient support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25850" y="1204020"/>
            <a:ext cx="2692450" cy="161538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25850" y="1223070"/>
            <a:ext cx="2692450" cy="0"/>
          </a:xfrm>
          <a:prstGeom prst="line">
            <a:avLst/>
          </a:prstGeom>
          <a:noFill/>
          <a:ln w="38100">
            <a:solidFill>
              <a:srgbClr val="146E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3940" y="1440210"/>
            <a:ext cx="2342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3940" y="1783110"/>
            <a:ext cx="23421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analysis, fraud detection, customer service automation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23099" y="1070670"/>
            <a:ext cx="2692450" cy="188208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23099" y="1089720"/>
            <a:ext cx="269245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1189" y="1306860"/>
            <a:ext cx="2342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21189" y="1649760"/>
            <a:ext cx="234219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recommendations, inventory management, chatbots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8600" y="3105150"/>
            <a:ext cx="2692450" cy="161538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28600" y="3124200"/>
            <a:ext cx="2692450" cy="0"/>
          </a:xfrm>
          <a:prstGeom prst="line">
            <a:avLst/>
          </a:prstGeom>
          <a:noFill/>
          <a:ln w="38100">
            <a:solidFill>
              <a:srgbClr val="146E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690" y="3341340"/>
            <a:ext cx="2342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6690" y="3684240"/>
            <a:ext cx="23421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generation, summarization, creative writing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25850" y="3105150"/>
            <a:ext cx="2692450" cy="161538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25850" y="3124200"/>
            <a:ext cx="269245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3940" y="3341340"/>
            <a:ext cx="2342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3940" y="3684240"/>
            <a:ext cx="23421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review, contract analysis, compliance checking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23099" y="3105150"/>
            <a:ext cx="2692450" cy="161538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223099" y="3124200"/>
            <a:ext cx="2692450" cy="0"/>
          </a:xfrm>
          <a:prstGeom prst="line">
            <a:avLst/>
          </a:prstGeom>
          <a:noFill/>
          <a:ln w="38100">
            <a:solidFill>
              <a:srgbClr val="146E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1189" y="3341340"/>
            <a:ext cx="2342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21189" y="3684240"/>
            <a:ext cx="23421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control, predictive maintenance, supply chain optimization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85344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163985"/>
            <a:ext cx="4815929" cy="2369790"/>
          </a:xfrm>
          <a:prstGeom prst="rect">
            <a:avLst/>
          </a:prstGeom>
          <a:solidFill>
            <a:srgbClr val="146E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392585"/>
            <a:ext cx="44459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60"/>
              </a:spcAft>
              <a:buNone/>
            </a:pPr>
            <a:r>
              <a:rPr lang="en-US" sz="1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Security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1819275"/>
            <a:ext cx="4358729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encryption at rest and in transit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model customization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is never used to train models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endpoints for private connectivity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IAM-based access control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3686175"/>
            <a:ext cx="4815929" cy="109329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33375" y="3686175"/>
            <a:ext cx="0" cy="1093291"/>
          </a:xfrm>
          <a:prstGeom prst="line">
            <a:avLst/>
          </a:prstGeom>
          <a:noFill/>
          <a:ln w="5715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0040" y="3884265"/>
            <a:ext cx="4449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84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Standards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25529" y="1543050"/>
            <a:ext cx="3413671" cy="2857500"/>
          </a:xfrm>
          <a:prstGeom prst="rect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54129" y="1771650"/>
            <a:ext cx="301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654129" y="2152650"/>
            <a:ext cx="3015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integration for comprehensive logging and monitoring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54129" y="3219450"/>
            <a:ext cx="301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654129" y="3600450"/>
            <a:ext cx="3015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trails and usage tracking for compliance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85344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Optimization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84089"/>
            <a:ext cx="1544389" cy="188208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303139"/>
            <a:ext cx="1544389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890" y="1520279"/>
            <a:ext cx="11711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890" y="1863179"/>
            <a:ext cx="1171173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per token for input and output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53989" y="1284089"/>
            <a:ext cx="1544389" cy="188208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153989" y="1303139"/>
            <a:ext cx="1544389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2080" y="1520279"/>
            <a:ext cx="11711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52080" y="1863179"/>
            <a:ext cx="1171173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 capacity for consistent workloads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03179" y="1284089"/>
            <a:ext cx="1544389" cy="188208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3179" y="1303139"/>
            <a:ext cx="1544389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1269" y="1520279"/>
            <a:ext cx="117117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Inference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1269" y="2129879"/>
            <a:ext cx="117117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discount for non-real-time tasks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4800" y="3318570"/>
            <a:ext cx="5242620" cy="1340941"/>
          </a:xfrm>
          <a:prstGeom prst="rect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2890" y="3516660"/>
            <a:ext cx="49433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840"/>
              </a:spcAft>
              <a:buNone/>
            </a:pPr>
            <a:r>
              <a:rPr lang="en-US" sz="15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Optimization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890" y="3889921"/>
            <a:ext cx="4846439" cy="5715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routing saves up to 30%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Latency-optimized inference</a:t>
            </a:r>
            <a:endParaRPr lang="en-US" sz="13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852220" y="1478310"/>
          <a:ext cx="2986980" cy="29869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85344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063079"/>
            <a:ext cx="1905000" cy="286509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3375" y="1063079"/>
            <a:ext cx="0" cy="2865090"/>
          </a:xfrm>
          <a:prstGeom prst="line">
            <a:avLst/>
          </a:prstGeom>
          <a:noFill/>
          <a:ln w="5715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0125" y="1291679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10126" y="1390799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76644" y="1985070"/>
            <a:ext cx="141846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Model Access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6644" y="2594670"/>
            <a:ext cx="1418463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access to foundation models in the AWS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14600" y="1063079"/>
            <a:ext cx="1905000" cy="286509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43175" y="1063079"/>
            <a:ext cx="0" cy="2865090"/>
          </a:xfrm>
          <a:prstGeom prst="line">
            <a:avLst/>
          </a:prstGeom>
          <a:noFill/>
          <a:ln w="57150">
            <a:solidFill>
              <a:srgbClr val="146E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9925" y="1558379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146E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19926" y="1657499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786444" y="2251770"/>
            <a:ext cx="1418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86444" y="2594670"/>
            <a:ext cx="141846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models in playgrounds or via API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24400" y="1063079"/>
            <a:ext cx="1905000" cy="286509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52975" y="1063079"/>
            <a:ext cx="0" cy="2865090"/>
          </a:xfrm>
          <a:prstGeom prst="line">
            <a:avLst/>
          </a:prstGeom>
          <a:noFill/>
          <a:ln w="5715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9725" y="1558379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29726" y="1657499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996244" y="2251770"/>
            <a:ext cx="1418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96244" y="2594670"/>
            <a:ext cx="141846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into applications using AWS SDK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34200" y="1063079"/>
            <a:ext cx="1905000" cy="286509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962775" y="1063079"/>
            <a:ext cx="0" cy="2865090"/>
          </a:xfrm>
          <a:prstGeom prst="line">
            <a:avLst/>
          </a:prstGeom>
          <a:noFill/>
          <a:ln w="57150">
            <a:solidFill>
              <a:srgbClr val="146E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9525" y="1558379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146E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39526" y="1657499"/>
            <a:ext cx="15134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206043" y="2251770"/>
            <a:ext cx="1418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06043" y="2594670"/>
            <a:ext cx="141846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production with monitoring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04800" y="4080570"/>
            <a:ext cx="8534400" cy="800100"/>
          </a:xfrm>
          <a:prstGeom prst="rect">
            <a:avLst/>
          </a:prstGeom>
          <a:solidFill>
            <a:srgbClr val="232F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52628" y="434727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Resources:</a:t>
            </a:r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docs.aws.amazon.com/bedrock | AWS Console | AWS SDKs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704850"/>
            <a:ext cx="868680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901279"/>
            <a:ext cx="2692450" cy="198864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28600" y="1920329"/>
            <a:ext cx="269245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6690" y="2137470"/>
            <a:ext cx="2342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84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6690" y="2510730"/>
            <a:ext cx="2296269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instructions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context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examples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and refine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25850" y="1901279"/>
            <a:ext cx="2692450" cy="198864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25850" y="1920329"/>
            <a:ext cx="269245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3940" y="2137470"/>
            <a:ext cx="2342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84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3940" y="2510730"/>
            <a:ext cx="2296269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token usage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appropriate models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caching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23099" y="1901279"/>
            <a:ext cx="2692450" cy="198864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23099" y="1920329"/>
            <a:ext cx="269245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1189" y="2137470"/>
            <a:ext cx="2342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840"/>
              </a:spcAft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21189" y="2510730"/>
            <a:ext cx="2296269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guardrails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IAM policies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logging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encryption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3495" y="1196280"/>
            <a:ext cx="351701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8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556730" y="2110680"/>
            <a:ext cx="20305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25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585591" y="2758380"/>
            <a:ext cx="3972818" cy="118869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79035" y="3025080"/>
            <a:ext cx="3585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building with Amazon Bedrock today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79035" y="3413671"/>
            <a:ext cx="3585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96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docs.aws.amazon.com/bedrock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Bedrock - Foundation Models</dc:title>
  <dc:subject>PptxGenJS Presentation</dc:subject>
  <dc:creator>AWS Bedrock Presentation</dc:creator>
  <cp:lastModifiedBy>AWS Bedrock Presentation</cp:lastModifiedBy>
  <cp:revision>1</cp:revision>
  <dcterms:created xsi:type="dcterms:W3CDTF">2025-11-07T18:17:34Z</dcterms:created>
  <dcterms:modified xsi:type="dcterms:W3CDTF">2025-11-07T18:17:34Z</dcterms:modified>
</cp:coreProperties>
</file>